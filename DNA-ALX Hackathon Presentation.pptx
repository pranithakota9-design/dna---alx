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embeddedFontLst>
    <p:embeddedFont>
      <p:font typeface="Fira Code" panose="020B0809050000020004" pitchFamily="49" charset="0"/>
      <p:bold r:id="rId10"/>
    </p:embeddedFont>
    <p:embeddedFont>
      <p:font typeface="Inter"/>
      <p:bold r:id="rId11"/>
      <p:italic r:id="rId12"/>
      <p:boldItalic r:id="rId13"/>
    </p:embeddedFont>
    <p:embeddedFont>
      <p:font typeface="Poppins" panose="00000500000000000000" pitchFamily="2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CFBE37-2F22-2668-3519-CE56237C2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8990"/>
            <a:ext cx="12192000" cy="2223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B9FA80-5B38-2967-3CB6-E562D88CFAF2}"/>
              </a:ext>
            </a:extLst>
          </p:cNvPr>
          <p:cNvSpPr txBox="1"/>
          <p:nvPr/>
        </p:nvSpPr>
        <p:spPr>
          <a:xfrm>
            <a:off x="189635" y="4613564"/>
            <a:ext cx="60942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TEAM MEMBERS:</a:t>
            </a:r>
          </a:p>
          <a:p>
            <a:r>
              <a:rPr lang="en-US" dirty="0"/>
              <a:t>CH MONISHA GUPTA [25MVCSMR0110]</a:t>
            </a:r>
          </a:p>
          <a:p>
            <a:r>
              <a:rPr lang="en-US" dirty="0"/>
              <a:t>K PRANITHA [25MVCSMR0132]</a:t>
            </a:r>
          </a:p>
          <a:p>
            <a:r>
              <a:rPr lang="en-US" dirty="0"/>
              <a:t>A DURGABHAVANI [25MVCSMR0094]</a:t>
            </a:r>
          </a:p>
          <a:p>
            <a:r>
              <a:rPr lang="en-US" dirty="0"/>
              <a:t>K NITHEESHA [25MVCSMR0130]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A465F-FFD5-6BD6-7814-53171A41B5DD}"/>
              </a:ext>
            </a:extLst>
          </p:cNvPr>
          <p:cNvSpPr txBox="1"/>
          <p:nvPr/>
        </p:nvSpPr>
        <p:spPr>
          <a:xfrm>
            <a:off x="4145970" y="2138572"/>
            <a:ext cx="61098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DNA-ALX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C9B82F-3F24-641E-D5B5-B757AFED6382}"/>
              </a:ext>
            </a:extLst>
          </p:cNvPr>
          <p:cNvSpPr txBox="1"/>
          <p:nvPr/>
        </p:nvSpPr>
        <p:spPr>
          <a:xfrm>
            <a:off x="5133108" y="3536326"/>
            <a:ext cx="6109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Explainable DNA Sequence &amp; Variant Analysis Prototype</a:t>
            </a:r>
          </a:p>
        </p:txBody>
      </p:sp>
    </p:spTree>
    <p:extLst>
      <p:ext uri="{BB962C8B-B14F-4D97-AF65-F5344CB8AC3E}">
        <p14:creationId xmlns:p14="http://schemas.microsoft.com/office/powerpoint/2010/main" val="41168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971675"/>
            <a:ext cx="111252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514725"/>
            <a:ext cx="5204073" cy="2924175"/>
          </a:xfrm>
          <a:prstGeom prst="roundRect">
            <a:avLst>
              <a:gd name="adj" fmla="val 390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48675" y="1047750"/>
            <a:ext cx="3209925" cy="323850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25" y="2495550"/>
            <a:ext cx="1308943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28118" y="2419350"/>
            <a:ext cx="1308943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84711" y="2419350"/>
            <a:ext cx="1308943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41305" y="2419350"/>
            <a:ext cx="1308943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97898" y="2495550"/>
            <a:ext cx="1308943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54491" y="2495550"/>
            <a:ext cx="1308943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11085" y="2495550"/>
            <a:ext cx="1308943" cy="5715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9525">
            <a:solidFill>
              <a:srgbClr val="4CA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6429375"/>
            <a:ext cx="520407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514725"/>
            <a:ext cx="5204073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514725"/>
            <a:ext cx="38100" cy="2924175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27948" y="3514725"/>
            <a:ext cx="9525" cy="29241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27973" y="3514725"/>
            <a:ext cx="2817614" cy="911125"/>
          </a:xfrm>
          <a:prstGeom prst="roundRect">
            <a:avLst>
              <a:gd name="adj" fmla="val 836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40837" y="3514725"/>
            <a:ext cx="2817762" cy="911125"/>
          </a:xfrm>
          <a:prstGeom prst="roundRect">
            <a:avLst>
              <a:gd name="adj" fmla="val 836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27973" y="4521100"/>
            <a:ext cx="2817614" cy="911274"/>
          </a:xfrm>
          <a:prstGeom prst="roundRect">
            <a:avLst>
              <a:gd name="adj" fmla="val 83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40837" y="4521100"/>
            <a:ext cx="2817762" cy="911274"/>
          </a:xfrm>
          <a:prstGeom prst="roundRect">
            <a:avLst>
              <a:gd name="adj" fmla="val 83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27973" y="5527625"/>
            <a:ext cx="2817614" cy="911274"/>
          </a:xfrm>
          <a:prstGeom prst="roundRect">
            <a:avLst>
              <a:gd name="adj" fmla="val 83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40837" y="5527625"/>
            <a:ext cx="2817762" cy="911274"/>
          </a:xfrm>
          <a:prstGeom prst="roundRect">
            <a:avLst>
              <a:gd name="adj" fmla="val 836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20150" y="419100"/>
            <a:ext cx="1171575" cy="23812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048875" y="419100"/>
            <a:ext cx="1609725" cy="238125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34650" y="714375"/>
            <a:ext cx="1123950" cy="238125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3387"/>
            <a:ext cx="116234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50" y="1152525"/>
            <a:ext cx="152400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722" y="2600325"/>
            <a:ext cx="15240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6668" y="2705100"/>
            <a:ext cx="952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6790" y="2524125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3261" y="2705100"/>
            <a:ext cx="952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571" y="2524125"/>
            <a:ext cx="21907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9855" y="2705100"/>
            <a:ext cx="952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9977" y="2524125"/>
            <a:ext cx="1714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448" y="2705100"/>
            <a:ext cx="9525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2758" y="2600325"/>
            <a:ext cx="219075" cy="171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041" y="2705100"/>
            <a:ext cx="952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3639" y="2600325"/>
            <a:ext cx="190500" cy="1714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635" y="2705100"/>
            <a:ext cx="9525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70232" y="2600325"/>
            <a:ext cx="190500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357687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1798" y="3894087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4662" y="3894087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51798" y="4900463"/>
            <a:ext cx="15240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64662" y="4900463"/>
            <a:ext cx="15240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51798" y="5906988"/>
            <a:ext cx="15240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64662" y="5906988"/>
            <a:ext cx="152400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24925" y="481012"/>
            <a:ext cx="104775" cy="1143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3650" y="481012"/>
            <a:ext cx="142875" cy="1143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9425" y="776287"/>
            <a:ext cx="114300" cy="1143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71525" y="2152650"/>
            <a:ext cx="114204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7280"/>
                </a:solidFill>
                <a:latin typeface="Inter"/>
              </a:rPr>
              <a:t>CORE END-TO-END ANALYSIS WORKFLOW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5834" y="419100"/>
            <a:ext cx="5629721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Inter"/>
              </a:rPr>
              <a:t>HACKATHON RESEARCH PROTOTYPE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628650"/>
            <a:ext cx="499062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F2937"/>
                </a:solidFill>
                <a:latin typeface="Poppins"/>
              </a:rPr>
              <a:t>DNA-ALX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400" y="1333500"/>
            <a:ext cx="58221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6FED"/>
                </a:solidFill>
                <a:latin typeface="Inter"/>
              </a:rPr>
              <a:t>AI-Assisted DNA Variant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400" y="1600200"/>
            <a:ext cx="5822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B7280"/>
                </a:solidFill>
                <a:latin typeface="Inter"/>
              </a:rPr>
              <a:t>"From DNA Sequence Comparison to Explainable Genetic Research"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000" y="4319587"/>
            <a:ext cx="5114232" cy="2381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F2937"/>
                </a:solidFill>
                <a:latin typeface="Poppins"/>
              </a:rPr>
              <a:t>Prototype Summary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" y="4633912"/>
            <a:ext cx="4870698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B5563"/>
                </a:solidFill>
                <a:latin typeface="Inter"/>
              </a:rPr>
              <a:t>DNA-ALX is a secure, explainable bioinformatics prototype. It compares DNA sequences using Dynamic Programming &amp; LCS analysis, detects candidate sequence differences, analyzes synthetic variant evidence, prioritizes research targets via Random Forest, and generates explainable AI insights.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7325" y="457200"/>
            <a:ext cx="9144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4F6FED"/>
                </a:solidFill>
                <a:latin typeface="Inter"/>
              </a:rPr>
              <a:t>Bioinformatics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44150" y="457200"/>
            <a:ext cx="13144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AI / Machine Learning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1350" y="752475"/>
            <a:ext cx="8572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Inter"/>
              </a:rPr>
              <a:t>Data Security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39200" y="1133475"/>
            <a:ext cx="3345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Inter"/>
              </a:rPr>
              <a:t>Team:</a:t>
            </a:r>
            <a:r>
              <a:rPr sz="975" b="0" i="0" u="none">
                <a:solidFill>
                  <a:srgbClr val="1E3A8A"/>
                </a:solidFill>
                <a:latin typeface="Inter"/>
              </a:rPr>
              <a:t> Biospark Innovators | Hackathon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1525" y="2809875"/>
            <a:ext cx="13089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F2937"/>
                </a:solidFill>
                <a:latin typeface="Inter"/>
              </a:rPr>
              <a:t>DNA Input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28118" y="2733675"/>
            <a:ext cx="130894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F2937"/>
                </a:solidFill>
                <a:latin typeface="Inter"/>
              </a:rPr>
              <a:t>Sequence Comparison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4711" y="2733675"/>
            <a:ext cx="130894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F2937"/>
                </a:solidFill>
                <a:latin typeface="Inter"/>
              </a:rPr>
              <a:t>Candidate Variants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1305" y="2733675"/>
            <a:ext cx="130894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F2937"/>
                </a:solidFill>
                <a:latin typeface="Inter"/>
              </a:rPr>
              <a:t>Evidence Analysis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7898" y="2809875"/>
            <a:ext cx="13089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F2937"/>
                </a:solidFill>
                <a:latin typeface="Inter"/>
              </a:rPr>
              <a:t>ML Prioritization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54491" y="2809875"/>
            <a:ext cx="13089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F2937"/>
                </a:solidFill>
                <a:latin typeface="Inter"/>
              </a:rPr>
              <a:t>AI Explanation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11085" y="2809875"/>
            <a:ext cx="130894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Inter"/>
              </a:rPr>
              <a:t>Secure Report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99448" y="3894087"/>
            <a:ext cx="2166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Inter"/>
              </a:rPr>
              <a:t>LCS + Dynamic Programming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2312" y="3894087"/>
            <a:ext cx="2166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Inter"/>
              </a:rPr>
              <a:t>Backtracking Reconstruction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9448" y="4900463"/>
            <a:ext cx="21193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Inter"/>
              </a:rPr>
              <a:t>Synthetic Evidence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12312" y="4900463"/>
            <a:ext cx="2095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Inter"/>
              </a:rPr>
              <a:t>Random Forest Prioritization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99448" y="5906988"/>
            <a:ext cx="1750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Inter"/>
              </a:rPr>
              <a:t>Explainable AI Assistant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12312" y="5906988"/>
            <a:ext cx="2226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Inter"/>
              </a:rPr>
              <a:t>Secure Genetic Data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5981700"/>
            <a:ext cx="11125200" cy="457200"/>
          </a:xfrm>
          <a:prstGeom prst="roundRect">
            <a:avLst>
              <a:gd name="adj" fmla="val 20833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356842"/>
            <a:ext cx="2895600" cy="1195982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81400" y="2356842"/>
            <a:ext cx="2895600" cy="1195982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705225"/>
            <a:ext cx="2895600" cy="1195982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81400" y="3705225"/>
            <a:ext cx="2895600" cy="1195982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05600" y="2471737"/>
            <a:ext cx="4953000" cy="1476375"/>
          </a:xfrm>
          <a:prstGeom prst="roundRect">
            <a:avLst>
              <a:gd name="adj" fmla="val 774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05600" y="4100512"/>
            <a:ext cx="4953000" cy="685800"/>
          </a:xfrm>
          <a:prstGeom prst="roundRect">
            <a:avLst>
              <a:gd name="adj" fmla="val 16666"/>
            </a:avLst>
          </a:prstGeom>
          <a:solidFill>
            <a:srgbClr val="EEF2FF"/>
          </a:solidFill>
          <a:ln w="9525">
            <a:solidFill>
              <a:srgbClr val="A5B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3543300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2356842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356842"/>
            <a:ext cx="38100" cy="1195982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19475" y="2356842"/>
            <a:ext cx="9525" cy="119598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81400" y="3543300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81400" y="2356842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81400" y="2356842"/>
            <a:ext cx="38100" cy="1195982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67475" y="2356842"/>
            <a:ext cx="9525" cy="119598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891682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3705225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3705225"/>
            <a:ext cx="38100" cy="1195982"/>
          </a:xfrm>
          <a:prstGeom prst="rect">
            <a:avLst/>
          </a:prstGeom>
          <a:solidFill>
            <a:srgbClr val="8B7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19475" y="3705225"/>
            <a:ext cx="9525" cy="119598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81400" y="4891682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81400" y="3705225"/>
            <a:ext cx="289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81400" y="3705225"/>
            <a:ext cx="38100" cy="1195982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67475" y="3705225"/>
            <a:ext cx="9525" cy="119598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96100" y="3509962"/>
            <a:ext cx="4572000" cy="247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96100" y="3509962"/>
            <a:ext cx="4572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06000" y="318611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523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6115050"/>
            <a:ext cx="1428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3387"/>
            <a:ext cx="135284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80679"/>
            <a:ext cx="1524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2580679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929062"/>
            <a:ext cx="19050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3929062"/>
            <a:ext cx="219075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4495800"/>
            <a:ext cx="104775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4975" y="4495800"/>
            <a:ext cx="104775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6975" y="4495800"/>
            <a:ext cx="104775" cy="1143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4884" y="419100"/>
            <a:ext cx="1144711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Inter"/>
              </a:rPr>
              <a:t>RESEARCH PROBLEM &amp; CHALLENGE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F2937"/>
                </a:solidFill>
                <a:latin typeface="Poppins"/>
              </a:rPr>
              <a:t>The 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1009650"/>
            <a:ext cx="11658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"/>
              </a:rPr>
              <a:t>"DNA differences can be small — but interpreting them can be complex."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125" y="6117431"/>
            <a:ext cx="10906125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FFFFF"/>
                </a:solidFill>
                <a:latin typeface="Inter"/>
              </a:rPr>
              <a:t>"How can we transform raw DNA sequence differences into an understandable, explainable, and secure research workflow?"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2833092"/>
            <a:ext cx="25622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B7280"/>
                </a:solidFill>
                <a:latin typeface="Inter"/>
              </a:rPr>
              <a:t>Long sequence lengths make manual alignment and visual inspection impossible.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2833092"/>
            <a:ext cx="25622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B7280"/>
                </a:solidFill>
                <a:latin typeface="Inter"/>
              </a:rPr>
              <a:t>Insertions, deletions, and substitutions occur non-linearly across genomic regions.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" y="4181475"/>
            <a:ext cx="25622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B7280"/>
                </a:solidFill>
                <a:latin typeface="Inter"/>
              </a:rPr>
              <a:t>Candidate variants require structured evidence, ranking, and clinical research prioritization.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0" y="4181475"/>
            <a:ext cx="25622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B7280"/>
                </a:solidFill>
                <a:latin typeface="Inter"/>
              </a:rPr>
              <a:t>Genetic materials require strict encryption, role-based access control, and audit logs.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6100" y="2662237"/>
            <a:ext cx="52959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EXEMPLAR VARIANT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8881" y="4262437"/>
            <a:ext cx="5786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338CA"/>
                </a:solidFill>
                <a:latin typeface="Inter"/>
              </a:rPr>
              <a:t>THE CORE TRANSFORMATION GOAL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650" y="2556867"/>
            <a:ext cx="15001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1. Large DNA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76700" y="2556867"/>
            <a:ext cx="185023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2. Complex Mutations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7750" y="3905250"/>
            <a:ext cx="189023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3. Interpretation Need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24325" y="3905250"/>
            <a:ext cx="14401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4. Sensitive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96100" y="3614737"/>
            <a:ext cx="27027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Inter"/>
              </a:rPr>
              <a:t>Detected: Single Nucleotide Substitution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44200" y="3614737"/>
            <a:ext cx="10096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Inter"/>
              </a:rPr>
              <a:t>Pos 4: C → 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00875" y="4481512"/>
            <a:ext cx="1143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1B4B"/>
                </a:solidFill>
                <a:latin typeface="Inter"/>
              </a:rPr>
              <a:t>Raw Difference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5300" y="4481512"/>
            <a:ext cx="12763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1B4B"/>
                </a:solidFill>
                <a:latin typeface="Inter"/>
              </a:rPr>
              <a:t>Candidate Variant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63075" y="4481512"/>
            <a:ext cx="7905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1B4B"/>
                </a:solidFill>
                <a:latin typeface="Inter"/>
              </a:rPr>
              <a:t>Evidence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25075" y="4481512"/>
            <a:ext cx="1238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4F6FED"/>
                </a:solidFill>
                <a:latin typeface="Inter"/>
              </a:rPr>
              <a:t>Research 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96100" y="2938462"/>
            <a:ext cx="666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REF: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6400" y="2919412"/>
            <a:ext cx="2714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Fira Code"/>
              </a:rPr>
              <a:t>A T G </a:t>
            </a:r>
            <a:r>
              <a:rPr sz="1125" b="1" i="0" u="none">
                <a:solidFill>
                  <a:srgbClr val="4CAF7D"/>
                </a:solidFill>
                <a:latin typeface="Fira Code"/>
              </a:rPr>
              <a:t>C</a:t>
            </a:r>
            <a:r>
              <a:rPr sz="1125" b="0" i="0" u="none">
                <a:solidFill>
                  <a:srgbClr val="FFFFFF"/>
                </a:solidFill>
                <a:latin typeface="Fira Code"/>
              </a:rPr>
              <a:t> C A T G C 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6100" y="3205162"/>
            <a:ext cx="666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SMP: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20200" y="3186112"/>
            <a:ext cx="2809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Fira Code"/>
              </a:rPr>
              <a:t>A T G C A T G C 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44100" y="3186112"/>
            <a:ext cx="4000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F4444"/>
                </a:solidFill>
                <a:latin typeface="Fira Code"/>
              </a:rPr>
              <a:t>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6048375"/>
            <a:ext cx="11125200" cy="390525"/>
          </a:xfrm>
          <a:prstGeom prst="roundRect">
            <a:avLst>
              <a:gd name="adj" fmla="val 19512"/>
            </a:avLst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96050" y="838200"/>
            <a:ext cx="5162550" cy="361950"/>
          </a:xfrm>
          <a:prstGeom prst="roundRect">
            <a:avLst>
              <a:gd name="adj" fmla="val 21052"/>
            </a:avLst>
          </a:prstGeom>
          <a:solidFill>
            <a:srgbClr val="FFFBEB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428750"/>
            <a:ext cx="36067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2500" y="1428750"/>
            <a:ext cx="3606849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1428750"/>
            <a:ext cx="36067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848100"/>
            <a:ext cx="360670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2500" y="3848100"/>
            <a:ext cx="3606849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51750" y="3848100"/>
            <a:ext cx="3606700" cy="2066925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3686175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428750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28750"/>
            <a:ext cx="38100" cy="2266950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30575" y="1428750"/>
            <a:ext cx="9525" cy="22669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2000" y="2790825"/>
            <a:ext cx="3178075" cy="70485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2500" y="3686175"/>
            <a:ext cx="360684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2500" y="1428750"/>
            <a:ext cx="360684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2500" y="1428750"/>
            <a:ext cx="38100" cy="2266950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89825" y="1428750"/>
            <a:ext cx="9525" cy="22669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51750" y="3686175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51750" y="1428750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1750" y="1428750"/>
            <a:ext cx="38100" cy="2266950"/>
          </a:xfrm>
          <a:prstGeom prst="rect">
            <a:avLst/>
          </a:prstGeom>
          <a:solidFill>
            <a:srgbClr val="8B7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648926" y="1428750"/>
            <a:ext cx="9525" cy="22669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5905500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3848100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3400" y="3848100"/>
            <a:ext cx="38100" cy="2066925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30575" y="3848100"/>
            <a:ext cx="9525" cy="20669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2000" y="5019675"/>
            <a:ext cx="3178075" cy="504825"/>
          </a:xfrm>
          <a:prstGeom prst="roundRect">
            <a:avLst>
              <a:gd name="adj" fmla="val 1132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2500" y="5905500"/>
            <a:ext cx="360684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2500" y="3848100"/>
            <a:ext cx="360684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2500" y="3848100"/>
            <a:ext cx="38100" cy="2066925"/>
          </a:xfrm>
          <a:prstGeom prst="rect">
            <a:avLst/>
          </a:prstGeom>
          <a:solidFill>
            <a:srgbClr val="8B7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89825" y="3848100"/>
            <a:ext cx="9525" cy="20669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521100" y="5000625"/>
            <a:ext cx="3178224" cy="386655"/>
          </a:xfrm>
          <a:prstGeom prst="roundRect">
            <a:avLst>
              <a:gd name="adj" fmla="val 9853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51750" y="5905500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51750" y="3848100"/>
            <a:ext cx="36067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51750" y="3848100"/>
            <a:ext cx="38100" cy="2066925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648926" y="3848100"/>
            <a:ext cx="9525" cy="20669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21100" y="1628775"/>
            <a:ext cx="800100" cy="23812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21100" y="2581275"/>
            <a:ext cx="3178224" cy="209550"/>
          </a:xfrm>
          <a:prstGeom prst="roundRect">
            <a:avLst>
              <a:gd name="adj" fmla="val 1818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521100" y="2828925"/>
            <a:ext cx="3178224" cy="20955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521100" y="3076575"/>
            <a:ext cx="3178224" cy="20955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280350" y="1628775"/>
            <a:ext cx="809625" cy="238125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62000" y="4048125"/>
            <a:ext cx="809625" cy="238125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521100" y="4048125"/>
            <a:ext cx="800100" cy="238125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280350" y="4048125"/>
            <a:ext cx="809625" cy="238125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80350" y="5000625"/>
            <a:ext cx="571500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889950" y="5000625"/>
            <a:ext cx="381000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09050" y="5000625"/>
            <a:ext cx="828675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175825" y="5000625"/>
            <a:ext cx="609600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62000" y="1628775"/>
            <a:ext cx="781050" cy="23812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925" y="942975"/>
            <a:ext cx="152400" cy="1524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3387"/>
            <a:ext cx="154334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975" y="1671637"/>
            <a:ext cx="133350" cy="1524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6026" y="1671637"/>
            <a:ext cx="152400" cy="1524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7675" y="4090987"/>
            <a:ext cx="152400" cy="1524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6925" y="4090987"/>
            <a:ext cx="152400" cy="1524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5076" y="4090987"/>
            <a:ext cx="133350" cy="1524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7675" y="1671637"/>
            <a:ext cx="152400" cy="152400"/>
          </a:xfrm>
          <a:prstGeom prst="rect">
            <a:avLst/>
          </a:prstGeom>
        </p:spPr>
      </p:pic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828675" y="2857500"/>
          <a:ext cx="3044722" cy="854710"/>
        </p:xfrm>
        <a:graphic>
          <a:graphicData uri="http://schemas.openxmlformats.org/drawingml/2006/table">
            <a:tbl>
              <a:tblPr/>
              <a:tblGrid>
                <a:gridCol w="60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64748B"/>
                          </a:solidFill>
                          <a:latin typeface="Fira Code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64748B"/>
                          </a:solidFill>
                          <a:latin typeface="Fira Code"/>
                        </a:rPr>
                        <a:t>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64748B"/>
                          </a:solidFill>
                          <a:latin typeface="Fira Code"/>
                        </a:rPr>
                        <a:t>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64748B"/>
                          </a:solidFill>
                          <a:latin typeface="Fira Code"/>
                        </a:rPr>
                        <a:t>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64748B"/>
                          </a:solidFill>
                          <a:latin typeface="Fira Code"/>
                        </a:rPr>
                        <a:t>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E3A8A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64748B"/>
                          </a:solidFill>
                          <a:latin typeface="Fira Code"/>
                        </a:rPr>
                        <a:t>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E3A8A"/>
                          </a:solidFill>
                          <a:latin typeface="Fira Code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64748B"/>
                          </a:solidFill>
                          <a:latin typeface="Fira Code"/>
                        </a:rPr>
                        <a:t>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 i="0" u="none">
                          <a:solidFill>
                            <a:srgbClr val="1E3A8A"/>
                          </a:solidFill>
                          <a:latin typeface="Fira Code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0" i="0" u="none">
                          <a:solidFill>
                            <a:srgbClr val="1F2937"/>
                          </a:solidFill>
                          <a:latin typeface="Fira Code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-333375" y="6162675"/>
            <a:ext cx="128587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"DNA-ALX connects algorithms, machine learning, AI, bioinformatics, and security into one research workflow."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934" y="419100"/>
            <a:ext cx="3377058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Inter"/>
              </a:rPr>
              <a:t>CORE TECHNICAL PROPOSITION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3400" y="628650"/>
            <a:ext cx="3787973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F2937"/>
                </a:solidFill>
                <a:latin typeface="Poppins"/>
              </a:rPr>
              <a:t>Our Innovation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3400" y="1009650"/>
            <a:ext cx="3607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"/>
              </a:rPr>
              <a:t>"Beyond simple sequence comparison"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86575" y="947737"/>
            <a:ext cx="5305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Inter"/>
              </a:rPr>
              <a:t>Research Prototype:</a:t>
            </a:r>
            <a:r>
              <a:rPr sz="900" b="0" i="0" u="none">
                <a:solidFill>
                  <a:srgbClr val="92400E"/>
                </a:solidFill>
                <a:latin typeface="Inter"/>
              </a:rPr>
              <a:t> Outputs are synthetic research indicators, not clinical diagnoses.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21100" y="1943100"/>
            <a:ext cx="34371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Candidate Variant Detection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1100" y="2219325"/>
            <a:ext cx="327347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Automatically extracts sequence changes from alignment gaps and mismatches.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80350" y="1943100"/>
            <a:ext cx="34369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Variant Evidence Engine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80350" y="2219325"/>
            <a:ext cx="32733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Evaluates multi-dimensional synthetic features per candidate variant: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000" y="4362450"/>
            <a:ext cx="34369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Cancer-Association Indicator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" y="4638675"/>
            <a:ext cx="32733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Machine learning prioritization outputted as an experimental research score.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1100" y="4362450"/>
            <a:ext cx="34371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Explainable AI Reasoning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21100" y="4638675"/>
            <a:ext cx="327347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Translates ML priorities into concise human-readable justifications: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8250" y="5057775"/>
            <a:ext cx="3159174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1" u="none">
                <a:solidFill>
                  <a:srgbClr val="5B21B6"/>
                </a:solidFill>
                <a:latin typeface="Inter"/>
              </a:rPr>
              <a:t> "High functional effect + strong evidence consistency + low population frequency."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80350" y="4362450"/>
            <a:ext cx="34369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Secure Genetic 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0350" y="4638675"/>
            <a:ext cx="32733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Ensures privacy and regulatory readiness through complete security controls: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000" y="1943100"/>
            <a:ext cx="34369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Interactive Dynamic Programming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2000" y="2219325"/>
            <a:ext cx="32733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Visualizes cell values, match/up/left derivations, and backtracks optimal LCS sequence path.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16350" y="1666875"/>
            <a:ext cx="7048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4F6FED"/>
                </a:solidFill>
                <a:latin typeface="Inter"/>
              </a:rPr>
              <a:t>Feature 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97300" y="2619375"/>
            <a:ext cx="312107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91B1B"/>
                </a:solidFill>
                <a:latin typeface="Inter"/>
              </a:rPr>
              <a:t>SUBSTITUTION: A → 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97300" y="2867025"/>
            <a:ext cx="312107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Inter"/>
              </a:rPr>
              <a:t>INSERTION: A → 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97300" y="3114675"/>
            <a:ext cx="312107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Inter"/>
              </a:rPr>
              <a:t>DELETION: AT → 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75600" y="1666875"/>
            <a:ext cx="71437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Feature 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56550" y="2559843"/>
            <a:ext cx="57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3700" y="2562225"/>
            <a:ext cx="3778299" cy="157162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B5563"/>
                </a:solidFill>
                <a:latin typeface="Inter"/>
              </a:rPr>
              <a:t>Population frequency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56550" y="2717006"/>
            <a:ext cx="57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3700" y="2719387"/>
            <a:ext cx="3778299" cy="157162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B5563"/>
                </a:solidFill>
                <a:latin typeface="Inter"/>
              </a:rPr>
              <a:t>Functional-effect indicator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56550" y="2874168"/>
            <a:ext cx="57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3700" y="2876550"/>
            <a:ext cx="3778299" cy="157162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B5563"/>
                </a:solidFill>
                <a:latin typeface="Inter"/>
              </a:rPr>
              <a:t>Evidence count &amp; consistency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56550" y="3031331"/>
            <a:ext cx="57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3700" y="3033712"/>
            <a:ext cx="3778299" cy="157162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B5563"/>
                </a:solidFill>
                <a:latin typeface="Inter"/>
              </a:rPr>
              <a:t>Conservation score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7250" y="4086225"/>
            <a:ext cx="71437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Inter"/>
              </a:rPr>
              <a:t>Feature 04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1896" y="5105400"/>
            <a:ext cx="375828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47857"/>
                </a:solidFill>
                <a:latin typeface="Inter"/>
              </a:rPr>
              <a:t>Research Indicator: 72/100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1896" y="5305425"/>
            <a:ext cx="375828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65F46"/>
                </a:solidFill>
                <a:latin typeface="Inter"/>
              </a:rPr>
              <a:t>Category: Elevated Research Signal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16350" y="4086225"/>
            <a:ext cx="7048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7C3AED"/>
                </a:solidFill>
                <a:latin typeface="Inter"/>
              </a:rPr>
              <a:t>Feature 05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75600" y="4086225"/>
            <a:ext cx="71437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Inter"/>
              </a:rPr>
              <a:t>Feature 06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37500" y="5019675"/>
            <a:ext cx="5524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JWT Auth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47100" y="5019675"/>
            <a:ext cx="3619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RBAC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66200" y="5019675"/>
            <a:ext cx="8096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AES Encryption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32975" y="5019675"/>
            <a:ext cx="5905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369A1"/>
                </a:solidFill>
                <a:latin typeface="Inter"/>
              </a:rPr>
              <a:t>Audit Logs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7250" y="1666875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4F6FED"/>
                </a:solidFill>
                <a:latin typeface="Inter"/>
              </a:rPr>
              <a:t>Feature 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3314700"/>
            <a:ext cx="111252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428750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15530" y="1428750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97660" y="1428750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79791" y="1428750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61921" y="1428750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2333625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15530" y="2333625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97660" y="2333625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79791" y="2333625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61921" y="2333625"/>
            <a:ext cx="1996380" cy="790575"/>
          </a:xfrm>
          <a:prstGeom prst="roundRect">
            <a:avLst>
              <a:gd name="adj" fmla="val 1445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93452" y="1638300"/>
            <a:ext cx="514350" cy="1714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209800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1428750"/>
            <a:ext cx="1996380" cy="28575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20255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47008" y="1638300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15530" y="2209800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15530" y="1428750"/>
            <a:ext cx="1996380" cy="28575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15530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02385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29138" y="1638300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97660" y="2209800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97660" y="1428750"/>
            <a:ext cx="1996380" cy="28575"/>
          </a:xfrm>
          <a:prstGeom prst="rect">
            <a:avLst/>
          </a:prstGeom>
          <a:solidFill>
            <a:srgbClr val="6B7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97660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4516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06506" y="1638300"/>
            <a:ext cx="542925" cy="1714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79791" y="2209800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79791" y="1428750"/>
            <a:ext cx="1996380" cy="28575"/>
          </a:xfrm>
          <a:prstGeom prst="rect">
            <a:avLst/>
          </a:prstGeom>
          <a:solidFill>
            <a:srgbClr val="6B7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79791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66646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302924" y="1638300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61921" y="2209800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61921" y="1428750"/>
            <a:ext cx="1996380" cy="28575"/>
          </a:xfrm>
          <a:prstGeom prst="rect">
            <a:avLst/>
          </a:prstGeom>
          <a:solidFill>
            <a:srgbClr val="8B7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61921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648777" y="1428750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64877" y="2543175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33400" y="3114675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33400" y="2333625"/>
            <a:ext cx="1996380" cy="28575"/>
          </a:xfrm>
          <a:prstGeom prst="rect">
            <a:avLst/>
          </a:prstGeom>
          <a:solidFill>
            <a:srgbClr val="8B7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3400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520255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427958" y="2543175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15530" y="3114675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15530" y="2333625"/>
            <a:ext cx="1996380" cy="28575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815530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02385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729138" y="2543175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97660" y="3114675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97660" y="2333625"/>
            <a:ext cx="1996380" cy="28575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97660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084516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001744" y="2543175"/>
            <a:ext cx="533400" cy="1714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79791" y="3114675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79791" y="2333625"/>
            <a:ext cx="1996380" cy="28575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379791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366646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302924" y="2543175"/>
            <a:ext cx="514350" cy="1714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661921" y="3114675"/>
            <a:ext cx="199638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661921" y="2333625"/>
            <a:ext cx="199638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661921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648777" y="2333625"/>
            <a:ext cx="9525" cy="79057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3387"/>
            <a:ext cx="135284" cy="123825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30" y="1747837"/>
            <a:ext cx="95250" cy="1524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160" y="1747837"/>
            <a:ext cx="95250" cy="1524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291" y="1747837"/>
            <a:ext cx="95250" cy="1524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421" y="1747837"/>
            <a:ext cx="95250" cy="1524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30" y="2652712"/>
            <a:ext cx="95250" cy="1524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160" y="2652712"/>
            <a:ext cx="95250" cy="15240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291" y="2652712"/>
            <a:ext cx="95250" cy="15240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421" y="2652712"/>
            <a:ext cx="95250" cy="15240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495675"/>
            <a:ext cx="142875" cy="11430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136" y="3729037"/>
            <a:ext cx="104775" cy="11430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2035" y="3729037"/>
            <a:ext cx="104775" cy="11430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183" y="3729037"/>
            <a:ext cx="104775" cy="1143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732" y="3729037"/>
            <a:ext cx="104775" cy="1143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730" y="3729037"/>
            <a:ext cx="104775" cy="1143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378" y="3729037"/>
            <a:ext cx="104775" cy="1143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9002" y="3729037"/>
            <a:ext cx="104775" cy="11430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5427" y="1628775"/>
            <a:ext cx="114300" cy="15240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8033" y="1628775"/>
            <a:ext cx="152400" cy="15240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0163" y="1628775"/>
            <a:ext cx="152400" cy="15240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7056" y="1628775"/>
            <a:ext cx="152400" cy="152400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3949" y="1628775"/>
            <a:ext cx="133350" cy="152400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45902" y="2533650"/>
            <a:ext cx="152400" cy="152400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08983" y="2533650"/>
            <a:ext cx="190500" cy="152400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0163" y="2533650"/>
            <a:ext cx="152400" cy="152400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2769" y="2533650"/>
            <a:ext cx="171450" cy="152400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64899" y="2533650"/>
            <a:ext cx="152400" cy="152400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3425" y="3733800"/>
            <a:ext cx="104775" cy="11430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44884" y="419100"/>
            <a:ext cx="1144711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Inter"/>
              </a:rPr>
              <a:t>ARCHITECTURAL FLOW &amp; USER JOURNEY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F2937"/>
                </a:solidFill>
                <a:latin typeface="Poppins"/>
              </a:rPr>
              <a:t>How DNA-ALX Works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3400" y="1009650"/>
            <a:ext cx="11658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"/>
              </a:rPr>
              <a:t>"From raw sequence to explainable research insight"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3425" y="3476625"/>
            <a:ext cx="11458575" cy="1428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7280"/>
                </a:solidFill>
                <a:latin typeface="Inter"/>
              </a:rPr>
              <a:t>RESEARCHER JOURNEY WORKFLOW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3425" y="3714750"/>
            <a:ext cx="1057275" cy="142875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4151"/>
                </a:solidFill>
                <a:latin typeface="Inter"/>
              </a:rPr>
              <a:t>Researcher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40098" y="3714750"/>
            <a:ext cx="952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4151"/>
                </a:solidFill>
                <a:latin typeface="Inter"/>
              </a:rPr>
              <a:t>Upload DNA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41996" y="3714750"/>
            <a:ext cx="14287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4151"/>
                </a:solidFill>
                <a:latin typeface="Inter"/>
              </a:rPr>
              <a:t>Compare Sequences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0145" y="3714750"/>
            <a:ext cx="12001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4151"/>
                </a:solidFill>
                <a:latin typeface="Inter"/>
              </a:rPr>
              <a:t>Inspect DP Table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69693" y="3714750"/>
            <a:ext cx="1833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4151"/>
                </a:solidFill>
                <a:latin typeface="Inter"/>
              </a:rPr>
              <a:t>Review Candidate Variants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71692" y="3714750"/>
            <a:ext cx="1666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4151"/>
                </a:solidFill>
                <a:latin typeface="Inter"/>
              </a:rPr>
              <a:t>View Research Indicator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40340" y="3714750"/>
            <a:ext cx="1419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74151"/>
                </a:solidFill>
                <a:latin typeface="Inter"/>
              </a:rPr>
              <a:t>Query AI Explanation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08964" y="3714750"/>
            <a:ext cx="20597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Inter"/>
              </a:rPr>
              <a:t>Generate Secure Audit Report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7727" y="1657350"/>
            <a:ext cx="68580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4F6FED"/>
                </a:solidFill>
                <a:latin typeface="Inter"/>
              </a:rPr>
              <a:t>STEP 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3979" y="1838325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DNA Input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1008" y="1981200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FASTA / DNA file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61283" y="1657350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4F6FED"/>
                </a:solidFill>
                <a:latin typeface="Inter"/>
              </a:rPr>
              <a:t>STEP 02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16110" y="1838325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Validation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73139" y="1981200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A/T/G/C &amp; length check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43413" y="1657350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4F6FED"/>
                </a:solidFill>
                <a:latin typeface="Inter"/>
              </a:rPr>
              <a:t>STEP 03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98240" y="1838325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LCS + DP Table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955269" y="1981200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Construct match grid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20781" y="1657350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4F6FED"/>
                </a:solidFill>
                <a:latin typeface="Inter"/>
              </a:rPr>
              <a:t>STEP 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80371" y="1838325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Backtracking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37400" y="1981200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Recover common seq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17199" y="1657350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7C3AED"/>
                </a:solidFill>
                <a:latin typeface="Inter"/>
              </a:rPr>
              <a:t>STEP 05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62501" y="1838325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Variant Detect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519530" y="1981200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Subs / Ins / Dels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79152" y="2562225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7C3AED"/>
                </a:solidFill>
                <a:latin typeface="Inter"/>
              </a:rPr>
              <a:t>STEP 06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3979" y="2743200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Evidence Analysis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1008" y="2886075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Synthetic features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42233" y="2562225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059669"/>
                </a:solidFill>
                <a:latin typeface="Inter"/>
              </a:rPr>
              <a:t>STEP 07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16110" y="2743200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ML Model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73139" y="2886075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Random Forest ranking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43413" y="2562225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059669"/>
                </a:solidFill>
                <a:latin typeface="Inter"/>
              </a:rPr>
              <a:t>STEP 08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98240" y="2743200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Research Indicator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955269" y="2886075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Priority Signal Score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16019" y="2562225"/>
            <a:ext cx="7048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4F6FED"/>
                </a:solidFill>
                <a:latin typeface="Inter"/>
              </a:rPr>
              <a:t>STEP 09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80371" y="2743200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AI Explanation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237400" y="2886075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6B7280"/>
                </a:solidFill>
                <a:latin typeface="Inter"/>
              </a:rPr>
              <a:t>LLM reasoning output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17199" y="2562225"/>
            <a:ext cx="68580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059669"/>
                </a:solidFill>
                <a:latin typeface="Inter"/>
              </a:rPr>
              <a:t>STEP 10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462501" y="2743200"/>
            <a:ext cx="239522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65F46"/>
                </a:solidFill>
                <a:latin typeface="Inter"/>
              </a:rPr>
              <a:t>Secure Report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19530" y="2886075"/>
            <a:ext cx="2281163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50" b="0" i="0" u="none">
                <a:solidFill>
                  <a:srgbClr val="047857"/>
                </a:solidFill>
                <a:latin typeface="Inter"/>
              </a:rPr>
              <a:t>Export PDF &amp;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428750"/>
            <a:ext cx="2527696" cy="24384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194446" y="1428750"/>
            <a:ext cx="2527845" cy="24384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000500"/>
            <a:ext cx="2527696" cy="24384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94446" y="4000500"/>
            <a:ext cx="2527845" cy="2438400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50892" y="1428750"/>
            <a:ext cx="5707707" cy="1794271"/>
          </a:xfrm>
          <a:prstGeom prst="roundRect">
            <a:avLst>
              <a:gd name="adj" fmla="val 6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857625"/>
            <a:ext cx="2527696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1428750"/>
            <a:ext cx="2527696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1428750"/>
            <a:ext cx="38100" cy="2438400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51571" y="1428750"/>
            <a:ext cx="9525" cy="2438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94446" y="3857625"/>
            <a:ext cx="252784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94446" y="1428750"/>
            <a:ext cx="252784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94446" y="1428750"/>
            <a:ext cx="38100" cy="2438400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2767" y="1428750"/>
            <a:ext cx="9525" cy="2438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6429375"/>
            <a:ext cx="2527696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4000500"/>
            <a:ext cx="2527696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000500"/>
            <a:ext cx="38100" cy="2438400"/>
          </a:xfrm>
          <a:prstGeom prst="rect">
            <a:avLst/>
          </a:prstGeom>
          <a:solidFill>
            <a:srgbClr val="8B7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51571" y="4000500"/>
            <a:ext cx="9525" cy="2438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94446" y="6429375"/>
            <a:ext cx="252784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94446" y="4000500"/>
            <a:ext cx="252784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94446" y="4000500"/>
            <a:ext cx="38100" cy="2438400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2767" y="4000500"/>
            <a:ext cx="9525" cy="2438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50892" y="3213496"/>
            <a:ext cx="570770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50892" y="1428750"/>
            <a:ext cx="570770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50892" y="1428750"/>
            <a:ext cx="38100" cy="1794271"/>
          </a:xfrm>
          <a:prstGeom prst="rect">
            <a:avLst/>
          </a:prstGeom>
          <a:solidFill>
            <a:srgbClr val="6B7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649075" y="1428750"/>
            <a:ext cx="9525" cy="1794271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79492" y="1943100"/>
            <a:ext cx="5279082" cy="628650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50892" y="3356371"/>
            <a:ext cx="2796778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861970" y="3356371"/>
            <a:ext cx="2796778" cy="1085850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72675" y="1628775"/>
            <a:ext cx="1485900" cy="23812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04845" y="4051696"/>
            <a:ext cx="1590675" cy="20955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3387"/>
            <a:ext cx="135284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600200"/>
            <a:ext cx="13335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896" y="1600200"/>
            <a:ext cx="17145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4171950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896" y="4171950"/>
            <a:ext cx="114300" cy="1333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4884" y="419100"/>
            <a:ext cx="1144711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Inter"/>
              </a:rPr>
              <a:t>STACK &amp; ALGORITHMIC SPECIFICATIONS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F2937"/>
                </a:solidFill>
                <a:latin typeface="Poppins"/>
              </a:rPr>
              <a:t>Technology &amp; Algorithm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1009650"/>
            <a:ext cx="11658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"/>
              </a:rPr>
              <a:t>"Combining classical dynamic programming with modern machine learning"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850" y="1571625"/>
            <a:ext cx="2424052" cy="2000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6FED"/>
                </a:solidFill>
                <a:latin typeface="Poppins"/>
              </a:rPr>
              <a:t>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5896" y="1571625"/>
            <a:ext cx="2424209" cy="2000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oppins"/>
              </a:rPr>
              <a:t>MACHINE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4143375"/>
            <a:ext cx="2424052" cy="2000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B7FC7"/>
                </a:solidFill>
                <a:latin typeface="Poppins"/>
              </a:rPr>
              <a:t>AI / EXPLAINABILITY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65896" y="4143375"/>
            <a:ext cx="2424209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3A8A"/>
                </a:solidFill>
                <a:latin typeface="Poppins"/>
              </a:rPr>
              <a:t>SECURITY &amp;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9492" y="2667000"/>
            <a:ext cx="5374332" cy="355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4B5563"/>
                </a:solidFill>
                <a:latin typeface="Inter"/>
              </a:rPr>
              <a:t>Backtracking:</a:t>
            </a:r>
            <a:r>
              <a:rPr sz="975" b="0" i="0" u="none">
                <a:solidFill>
                  <a:srgbClr val="4B5563"/>
                </a:solidFill>
                <a:latin typeface="Inter"/>
              </a:rPr>
              <a:t> Reconstructs optimal alignment by traversing backward from DP[m][n] through matching state decisions.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525" y="1848802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1847850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Python 3.11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1525" y="2031563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2030610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FastAPI (REST APIs)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525" y="2214324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2213371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Pandas &amp; NumPy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525" y="2397085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2396132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Biopython toolkit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32571" y="1848802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9246" y="1847850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Scikit-Learn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32571" y="2031563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9246" y="2030610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Random Forest Classifier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32571" y="2214324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99246" y="2213371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Feature Importance / SHAP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32571" y="2397085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9246" y="2396132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Synthetic evaluation set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1525" y="4420552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200" y="4419600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Gemini / LLM API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1525" y="4603313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4602360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AI Research Assistant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1525" y="4786074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4785121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Automated Summarization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1525" y="4968835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4967882"/>
            <a:ext cx="2600027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Human-readable rationale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32571" y="4420552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99246" y="4419600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SQLite / SQLAlchemy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32571" y="4603313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246" y="4602360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JWT Authentication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32571" y="4786074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99246" y="4785121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Role-Based Access Control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32571" y="4968835"/>
            <a:ext cx="666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Inter"/>
              </a:rP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99246" y="4967882"/>
            <a:ext cx="2600213" cy="18276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4B5563"/>
                </a:solidFill>
                <a:latin typeface="Inter"/>
              </a:rPr>
              <a:t>Audit Event Logging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9492" y="1638300"/>
            <a:ext cx="388048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F2937"/>
                </a:solidFill>
                <a:latin typeface="Poppins"/>
              </a:rPr>
              <a:t>Longest Common Subsequence (LCS) Formula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67925" y="1666875"/>
            <a:ext cx="139065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4F6FED"/>
                </a:solidFill>
                <a:latin typeface="Inter"/>
              </a:rPr>
              <a:t>Dynamic Programming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3317" y="2066925"/>
            <a:ext cx="588868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Fira Code"/>
              </a:rPr>
              <a:t>If S1[i] == S2[j]:</a:t>
            </a:r>
            <a:r>
              <a:rPr sz="975" b="0" i="0" u="none">
                <a:solidFill>
                  <a:srgbClr val="0F172A"/>
                </a:solidFill>
                <a:latin typeface="Fira Code"/>
              </a:rPr>
              <a:t> DP[i][j] = DP[i-1][j-1] + 1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3317" y="2286000"/>
            <a:ext cx="588868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11D48"/>
                </a:solidFill>
                <a:latin typeface="Fira Code"/>
              </a:rPr>
              <a:t>If S1[i] != S2[j]:</a:t>
            </a:r>
            <a:r>
              <a:rPr sz="975" b="0" i="0" u="none">
                <a:solidFill>
                  <a:srgbClr val="0F172A"/>
                </a:solidFill>
                <a:latin typeface="Fira Code"/>
              </a:rPr>
              <a:t> DP[i][j] = max(DP[i-1][j], DP[i][j-1])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93767" y="3499246"/>
            <a:ext cx="329572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F2937"/>
                </a:solidFill>
                <a:latin typeface="Inter"/>
              </a:rPr>
              <a:t>Complexity Analysis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4845" y="3499246"/>
            <a:ext cx="318715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65F46"/>
                </a:solidFill>
                <a:latin typeface="Inter"/>
              </a:rPr>
              <a:t>Model Evaluation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04845" y="3708796"/>
            <a:ext cx="26062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Random Forest Classifier</a:t>
            </a:r>
            <a:r>
              <a:rPr sz="900" b="0" i="0" u="none">
                <a:solidFill>
                  <a:srgbClr val="047857"/>
                </a:solidFill>
                <a:latin typeface="Inter"/>
              </a:rPr>
              <a:t> trained on synthetic feature benchmarks.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00095" y="4089796"/>
            <a:ext cx="1495425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 i="0" u="none">
                <a:solidFill>
                  <a:srgbClr val="059669"/>
                </a:solidFill>
                <a:latin typeface="Inter"/>
              </a:rPr>
              <a:t>Synthetic Dataset Evaluation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93767" y="3708796"/>
            <a:ext cx="313878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B5563"/>
                </a:solidFill>
                <a:latin typeface="Inter"/>
              </a:rPr>
              <a:t>Time:</a:t>
            </a:r>
            <a:r>
              <a:rPr sz="900" b="0" i="0" u="none">
                <a:solidFill>
                  <a:srgbClr val="4B5563"/>
                </a:solidFill>
                <a:latin typeface="Inter"/>
              </a:rPr>
              <a:t> O(m × n)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3767" y="3851671"/>
            <a:ext cx="313878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B5563"/>
                </a:solidFill>
                <a:latin typeface="Inter"/>
              </a:rPr>
              <a:t>Space:</a:t>
            </a:r>
            <a:r>
              <a:rPr sz="900" b="0" i="0" u="none">
                <a:solidFill>
                  <a:srgbClr val="4B5563"/>
                </a:solidFill>
                <a:latin typeface="Inter"/>
              </a:rPr>
              <a:t> O(m × n)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93767" y="4032646"/>
            <a:ext cx="260627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B7280"/>
                </a:solidFill>
                <a:latin typeface="Inter"/>
              </a:rPr>
              <a:t>Evaluates m × n grid states for exact local alignments.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6076950"/>
            <a:ext cx="11125200" cy="361950"/>
          </a:xfrm>
          <a:prstGeom prst="roundRect">
            <a:avLst>
              <a:gd name="adj" fmla="val 21052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428750"/>
            <a:ext cx="6312991" cy="4514850"/>
          </a:xfrm>
          <a:prstGeom prst="roundRect">
            <a:avLst>
              <a:gd name="adj" fmla="val 253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2571750"/>
            <a:ext cx="6008191" cy="1159966"/>
          </a:xfrm>
          <a:prstGeom prst="roundRect">
            <a:avLst>
              <a:gd name="adj" fmla="val 656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36891" y="1428750"/>
            <a:ext cx="4621708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36891" y="2352675"/>
            <a:ext cx="4621708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36891" y="3276600"/>
            <a:ext cx="4621708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36891" y="4200525"/>
            <a:ext cx="4621708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924050"/>
            <a:ext cx="1832371" cy="53340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13421" y="1924050"/>
            <a:ext cx="1832371" cy="53340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41043" y="1924050"/>
            <a:ext cx="2153096" cy="533400"/>
          </a:xfrm>
          <a:prstGeom prst="roundRect">
            <a:avLst>
              <a:gd name="adj" fmla="val 107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36891" y="2228850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36891" y="1428750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36891" y="1428750"/>
            <a:ext cx="38100" cy="809625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49075" y="1428750"/>
            <a:ext cx="9525" cy="8096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36891" y="3152775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36891" y="2352675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36891" y="2352675"/>
            <a:ext cx="38100" cy="809625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49075" y="2352675"/>
            <a:ext cx="9525" cy="8096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36891" y="4076700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36891" y="3276600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36891" y="3276600"/>
            <a:ext cx="38100" cy="809625"/>
          </a:xfrm>
          <a:prstGeom prst="rect">
            <a:avLst/>
          </a:prstGeom>
          <a:solidFill>
            <a:srgbClr val="8B7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649075" y="3276600"/>
            <a:ext cx="9525" cy="8096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36891" y="5000625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36891" y="4200525"/>
            <a:ext cx="462170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36891" y="4200525"/>
            <a:ext cx="38100" cy="809625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649075" y="4200525"/>
            <a:ext cx="9525" cy="8096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51016" y="2686050"/>
            <a:ext cx="828675" cy="15240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0100" y="3171825"/>
            <a:ext cx="5779591" cy="445591"/>
          </a:xfrm>
          <a:prstGeom prst="roundRect">
            <a:avLst>
              <a:gd name="adj" fmla="val 1282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0100" y="3171825"/>
            <a:ext cx="28575" cy="445591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3387"/>
            <a:ext cx="154334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55541"/>
            <a:ext cx="95250" cy="952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341" y="1600200"/>
            <a:ext cx="1524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8341" y="2524125"/>
            <a:ext cx="13335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8341" y="3448050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8341" y="4371975"/>
            <a:ext cx="13335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000375"/>
            <a:ext cx="95250" cy="1047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3267075"/>
            <a:ext cx="133350" cy="1047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-352425" y="6172200"/>
            <a:ext cx="12896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Inter"/>
              </a:rPr>
              <a:t>"Prototype Result: One integrated workflow from sequence comparison to explainable research reporting."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934" y="419100"/>
            <a:ext cx="1142806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Inter"/>
              </a:rPr>
              <a:t>INTERFACE MOCKUP &amp; VALUE DELIVERED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F2937"/>
                </a:solidFill>
                <a:latin typeface="Poppins"/>
              </a:rPr>
              <a:t>Demo &amp;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" y="1009650"/>
            <a:ext cx="11658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"/>
              </a:rPr>
              <a:t>"Turning sequence differences into explainable research insights"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8485" y="1581150"/>
            <a:ext cx="24169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Fira Code"/>
              </a:rPr>
              <a:t>DNA-ALX // Analysis Workbench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4696" y="1595437"/>
            <a:ext cx="1314896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0B981"/>
                </a:solidFill>
                <a:latin typeface="Inter"/>
              </a:rPr>
              <a:t>● STATUS: COMPLETE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" y="2000250"/>
            <a:ext cx="1699021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LCS LENGTH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27721" y="2000250"/>
            <a:ext cx="1699021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CANDIDATE VARIANTS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55343" y="2000250"/>
            <a:ext cx="201974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RESEARCH INDICATOR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846016"/>
            <a:ext cx="2202656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"/>
              </a:rPr>
              <a:t>Encrypted Sample ID: #ANON-9042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341" y="3846016"/>
            <a:ext cx="1738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Inter"/>
              </a:rPr>
              <a:t>Audit Log Entry ID: #LOG-8831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8341" y="1571625"/>
            <a:ext cx="4622765" cy="2000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F2937"/>
                </a:solidFill>
                <a:latin typeface="Poppins"/>
              </a:rPr>
              <a:t>Algorithmic Transparency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8341" y="1809750"/>
            <a:ext cx="4402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Shows researchers step-by-step how DP matrix values and backtracking paths were generated.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8341" y="2495550"/>
            <a:ext cx="4622765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F2937"/>
                </a:solidFill>
                <a:latin typeface="Poppins"/>
              </a:rPr>
              <a:t>Variant Prioritization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08341" y="2733675"/>
            <a:ext cx="4402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Ranks candidate variants using multi-factor evidence features to focus downstream analysis.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08341" y="3419475"/>
            <a:ext cx="4622765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F2937"/>
                </a:solidFill>
                <a:latin typeface="Poppins"/>
              </a:rPr>
              <a:t>Explainable AI (XAI)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8341" y="3657600"/>
            <a:ext cx="4402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Converts machine learning numeric outputs into clear, natural language explanations.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8341" y="4343400"/>
            <a:ext cx="4622765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F2937"/>
                </a:solidFill>
                <a:latin typeface="Poppins"/>
              </a:rPr>
              <a:t>Data Protection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8341" y="4581525"/>
            <a:ext cx="440263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B7280"/>
                </a:solidFill>
                <a:latin typeface="Inter"/>
              </a:rPr>
              <a:t>Safeguards sensitive genetic data through authentication, encryption, and auditability.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2190750"/>
            <a:ext cx="200471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9 bases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27721" y="2190750"/>
            <a:ext cx="200471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43F5E"/>
                </a:solidFill>
                <a:latin typeface="Inter"/>
              </a:rPr>
              <a:t>3 detected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55343" y="2190750"/>
            <a:ext cx="240562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Inter"/>
              </a:rPr>
              <a:t>72 / 100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" y="2690812"/>
            <a:ext cx="28932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FAFC"/>
                </a:solidFill>
                <a:latin typeface="Inter"/>
              </a:rPr>
              <a:t>Variant SIM_VAR_001 (Substitution A → G)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8166" y="2705100"/>
            <a:ext cx="80962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FFFFFF"/>
                </a:solidFill>
                <a:latin typeface="Inter"/>
              </a:rPr>
              <a:t>HIGH PRIORITY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2025" y="2981325"/>
            <a:ext cx="267890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1" u="none">
                <a:solidFill>
                  <a:srgbClr val="94A3B8"/>
                </a:solidFill>
                <a:latin typeface="Inter"/>
              </a:rPr>
              <a:t>User:</a:t>
            </a:r>
            <a:r>
              <a:rPr sz="825" b="0" i="1" u="none">
                <a:solidFill>
                  <a:srgbClr val="94A3B8"/>
                </a:solidFill>
                <a:latin typeface="Inter"/>
              </a:rPr>
              <a:t> "Why was SIM_VAR_001 prioritized?"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" y="3248025"/>
            <a:ext cx="5600700" cy="279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1" i="0" u="none">
                <a:solidFill>
                  <a:srgbClr val="CBD5E1"/>
                </a:solidFill>
                <a:latin typeface="Inter"/>
              </a:rPr>
              <a:t>AI Assistant:</a:t>
            </a:r>
            <a:r>
              <a:rPr sz="825" b="0" i="0" u="none">
                <a:solidFill>
                  <a:srgbClr val="CBD5E1"/>
                </a:solidFill>
                <a:latin typeface="Inter"/>
              </a:rPr>
              <a:t> "Prioritized due to high functional-effect indicator, strong evidence consistency (8 records), low simulated population frequency, and 84% model confidence."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428750"/>
            <a:ext cx="5943600" cy="1304925"/>
          </a:xfrm>
          <a:prstGeom prst="roundRect">
            <a:avLst>
              <a:gd name="adj" fmla="val 8759"/>
            </a:avLst>
          </a:prstGeom>
          <a:solidFill>
            <a:srgbClr val="F0FDF4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05600" y="1428750"/>
            <a:ext cx="49530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05600" y="5086350"/>
            <a:ext cx="4953000" cy="1352550"/>
          </a:xfrm>
          <a:prstGeom prst="roundRect">
            <a:avLst>
              <a:gd name="adj" fmla="val 845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867025"/>
            <a:ext cx="2924175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52825" y="2867025"/>
            <a:ext cx="2924175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600450"/>
            <a:ext cx="2924175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52825" y="3600450"/>
            <a:ext cx="2924175" cy="638175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4333875"/>
            <a:ext cx="2924175" cy="504825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52825" y="4333875"/>
            <a:ext cx="2924175" cy="504825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05600" y="3438525"/>
            <a:ext cx="4953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05600" y="1428750"/>
            <a:ext cx="49530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05600" y="1428750"/>
            <a:ext cx="38100" cy="2019300"/>
          </a:xfrm>
          <a:prstGeom prst="rect">
            <a:avLst/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49075" y="1428750"/>
            <a:ext cx="9525" cy="20193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96100" y="5991225"/>
            <a:ext cx="45720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96100" y="1905000"/>
            <a:ext cx="4600575" cy="276225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96100" y="2447925"/>
            <a:ext cx="4600575" cy="276225"/>
          </a:xfrm>
          <a:prstGeom prst="roundRect">
            <a:avLst>
              <a:gd name="adj" fmla="val 20689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96100" y="2990850"/>
            <a:ext cx="4600575" cy="295275"/>
          </a:xfrm>
          <a:prstGeom prst="roundRect">
            <a:avLst>
              <a:gd name="adj" fmla="val 19354"/>
            </a:avLst>
          </a:prstGeom>
          <a:solidFill>
            <a:srgbClr val="4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96100" y="5991225"/>
            <a:ext cx="4572000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3387"/>
            <a:ext cx="135284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600200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100" y="1619250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100" y="2257425"/>
            <a:ext cx="4600575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100" y="2800350"/>
            <a:ext cx="4600575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4884" y="419100"/>
            <a:ext cx="1144711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4F6FED"/>
                </a:solidFill>
                <a:latin typeface="Inter"/>
              </a:rPr>
              <a:t>ROADMAP &amp; SCALABILITY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1F2937"/>
                </a:solidFill>
                <a:latin typeface="Poppins"/>
              </a:rPr>
              <a:t>Future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1009650"/>
            <a:ext cx="11658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"/>
              </a:rPr>
              <a:t>"Building DNA-ALX into a scalable research platform"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275" y="1571625"/>
            <a:ext cx="6040755" cy="2000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oppins"/>
              </a:rPr>
              <a:t>Current Prototype Achievements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6100" y="1590675"/>
            <a:ext cx="4930616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F6FED"/>
                </a:solidFill>
                <a:latin typeface="Poppins"/>
              </a:rPr>
              <a:t>Platform Scalability Horizon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5276850"/>
            <a:ext cx="5715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1" i="0" u="none">
                <a:solidFill>
                  <a:srgbClr val="F3F4F6"/>
                </a:solidFill>
                <a:latin typeface="Inter"/>
              </a:rPr>
              <a:t>"DNA-ALX does not stop at finding DNA differences — it makes those differences understandable, explainable, reviewable, and secure."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275" y="1847850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DNA Sequence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3775" y="1847850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Candidate Variant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275" y="2047875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LCS Dynamic Programming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3775" y="2047875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Random Forest Prioritization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247900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DP Table 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3775" y="2247900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Explainable 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275" y="2447925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Backtracking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3775" y="2447925"/>
            <a:ext cx="35004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Inter"/>
              </a:rPr>
              <a:t>✓ Audit Logs &amp; PDF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225" y="2971800"/>
            <a:ext cx="351293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F2937"/>
                </a:solidFill>
                <a:latin typeface="Inter"/>
              </a:rPr>
              <a:t>1. DB Integrations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25" y="3133725"/>
            <a:ext cx="27717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B7280"/>
                </a:solidFill>
                <a:latin typeface="Inter"/>
              </a:rPr>
              <a:t>ClinVar, gnomAD, Ensembl/VEP, and dbSNP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76650" y="2971800"/>
            <a:ext cx="351293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F2937"/>
                </a:solidFill>
                <a:latin typeface="Inter"/>
              </a:rPr>
              <a:t>2. Real Datasets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6650" y="3133725"/>
            <a:ext cx="27717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B7280"/>
                </a:solidFill>
                <a:latin typeface="Inter"/>
              </a:rPr>
              <a:t>Transition from synthetic data to ethically governed clinical cohorts.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" y="3705225"/>
            <a:ext cx="351293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F2937"/>
                </a:solidFill>
                <a:latin typeface="Inter"/>
              </a:rPr>
              <a:t>3. Advanced Annotation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225" y="3867150"/>
            <a:ext cx="334565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B7280"/>
                </a:solidFill>
                <a:latin typeface="Inter"/>
              </a:rPr>
              <a:t>Deeper functional and biological effect estimation.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6650" y="3705225"/>
            <a:ext cx="351293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F2937"/>
                </a:solidFill>
                <a:latin typeface="Inter"/>
              </a:rPr>
              <a:t>4. Grounded AI Summarization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76650" y="3867150"/>
            <a:ext cx="27717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B7280"/>
                </a:solidFill>
                <a:latin typeface="Inter"/>
              </a:rPr>
              <a:t>Literature-linked RAG for automated research reviews.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225" y="4438650"/>
            <a:ext cx="351293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F2937"/>
                </a:solidFill>
                <a:latin typeface="Inter"/>
              </a:rPr>
              <a:t>5. Cloud Infrastructure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225" y="4600575"/>
            <a:ext cx="334565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B7280"/>
                </a:solidFill>
                <a:latin typeface="Inter"/>
              </a:rPr>
              <a:t>Scalable, HIPAA-compliant cloud environment.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76650" y="4438650"/>
            <a:ext cx="351293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F2937"/>
                </a:solidFill>
                <a:latin typeface="Inter"/>
              </a:rPr>
              <a:t>6. Hardware 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76650" y="4600575"/>
            <a:ext cx="334565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B7280"/>
                </a:solidFill>
                <a:latin typeface="Inter"/>
              </a:rPr>
              <a:t>HSM key management &amp; zero-knowledge privacy.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8178" y="1962150"/>
            <a:ext cx="563641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F2937"/>
                </a:solidFill>
                <a:latin typeface="Inter"/>
              </a:rPr>
              <a:t>Individual Researcher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8178" y="2505075"/>
            <a:ext cx="563641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E3A8A"/>
                </a:solidFill>
                <a:latin typeface="Inter"/>
              </a:rPr>
              <a:t>Research Laboratory / University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7228" y="3067050"/>
            <a:ext cx="559831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Secure Cloud Bioinformatics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2462" y="6096000"/>
            <a:ext cx="1047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4CAF7D"/>
                </a:solidFill>
                <a:latin typeface="Inter"/>
              </a:rPr>
              <a:t>THANK YOU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24962" y="6096000"/>
            <a:ext cx="3429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4CAF7D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72612" y="6096000"/>
            <a:ext cx="619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4CAF7D"/>
                </a:solidFill>
                <a:latin typeface="Inter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1199</Words>
  <Application>Microsoft Office PowerPoint</Application>
  <PresentationFormat>Widescreen</PresentationFormat>
  <Paragraphs>267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Poppins</vt:lpstr>
      <vt:lpstr>Inter</vt:lpstr>
      <vt:lpstr>Fira Code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Kota pranitha Kota</cp:lastModifiedBy>
  <cp:revision>2</cp:revision>
  <dcterms:created xsi:type="dcterms:W3CDTF">2013-01-27T09:14:16Z</dcterms:created>
  <dcterms:modified xsi:type="dcterms:W3CDTF">2026-10-03T09:12:25Z</dcterms:modified>
  <cp:category/>
</cp:coreProperties>
</file>